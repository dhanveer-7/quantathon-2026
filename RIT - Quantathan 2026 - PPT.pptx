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20"/>
    <p:sldId id="258" r:id="rId21"/>
    <p:sldId id="259" r:id="rId22"/>
    <p:sldId id="260" r:id="rId23"/>
    <p:sldId id="261" r:id="rId24"/>
    <p:sldId id="262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8" d="100"/>
          <a:sy n="88" d="100"/>
        </p:scale>
        <p:origin x="106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84611-C05A-4FE0-9E94-CECBDE5B39B4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DD5657-429F-4937-8DBC-7A2164C32DAC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DD5657-429F-4937-8DBC-7A2164C32DAC}" type="slidenum">
              <a:rPr lang="en-IN" smtClean="0"/>
              <a:t>2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8991600" y="3048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371600" y="2819400"/>
            <a:ext cx="64008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155448" y="2420112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Oval 12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61688" y="1026372"/>
            <a:ext cx="457200" cy="441325"/>
          </a:xfrm>
        </p:spPr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8991600" y="1905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152400" y="2286000"/>
            <a:ext cx="8833104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55448" y="142352"/>
            <a:ext cx="8833104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8426" y="2743200"/>
            <a:ext cx="6480174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152400" y="2438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Oval 9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Oval 10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33400"/>
            <a:ext cx="77724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91200" y="6409944"/>
            <a:ext cx="3044952" cy="365760"/>
          </a:xfrm>
        </p:spPr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 flipV="1">
            <a:off x="4563080" y="1575652"/>
            <a:ext cx="8921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>
          <a:xfrm>
            <a:off x="301752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half" idx="2"/>
          </p:nvPr>
        </p:nvSpPr>
        <p:spPr>
          <a:xfrm>
            <a:off x="4800600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 flipV="1">
            <a:off x="4572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white">
          <a:xfrm>
            <a:off x="0" y="0"/>
            <a:ext cx="9144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>
          <a:xfrm>
            <a:off x="152400" y="1371600"/>
            <a:ext cx="8833104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45923" y="6391656"/>
            <a:ext cx="8833104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4040188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791330" y="1524000"/>
            <a:ext cx="4041775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4800" y="6409944"/>
            <a:ext cx="3581400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52400" y="128016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Content Placeholder 23"/>
          <p:cNvSpPr>
            <a:spLocks noGrp="1"/>
          </p:cNvSpPr>
          <p:nvPr>
            <p:ph sz="quarter" idx="2"/>
          </p:nvPr>
        </p:nvSpPr>
        <p:spPr>
          <a:xfrm>
            <a:off x="301752" y="2471383"/>
            <a:ext cx="4041648" cy="3818404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6" name="Content Placeholder 25"/>
          <p:cNvSpPr>
            <a:spLocks noGrp="1"/>
          </p:cNvSpPr>
          <p:nvPr>
            <p:ph sz="quarter" idx="4"/>
          </p:nvPr>
        </p:nvSpPr>
        <p:spPr>
          <a:xfrm>
            <a:off x="4800600" y="2471383"/>
            <a:ext cx="4038600" cy="3822192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5" name="Oval 24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Oval 26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343400" y="1042416"/>
            <a:ext cx="457200" cy="441325"/>
          </a:xfrm>
        </p:spPr>
        <p:txBody>
          <a:bodyPr/>
          <a:lstStyle>
            <a:lvl1pPr algn="ctr">
              <a:defRPr/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343400" y="1036020"/>
            <a:ext cx="457200" cy="441325"/>
          </a:xfrm>
        </p:spPr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2400" y="158496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267200" y="6324600"/>
            <a:ext cx="6096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152400" y="152400"/>
            <a:ext cx="8833104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Rectangle 12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914400"/>
            <a:ext cx="23622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381000" y="1981200"/>
            <a:ext cx="23622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1"/>
          </p:nvPr>
        </p:nvSpPr>
        <p:spPr>
          <a:xfrm>
            <a:off x="3124200" y="685800"/>
            <a:ext cx="5638800" cy="5410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0" name="Oval 9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Oval 10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383280" cy="365760"/>
          </a:xfrm>
        </p:spPr>
        <p:txBody>
          <a:bodyPr/>
          <a:lstStyle/>
          <a:p>
            <a:endParaRPr lang="en-I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traight Connector 20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auto">
          <a:xfrm>
            <a:off x="152400" y="152400"/>
            <a:ext cx="8833104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Oval 11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00375" y="5029200"/>
            <a:ext cx="58674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00375" y="609600"/>
            <a:ext cx="58674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00" y="990600"/>
            <a:ext cx="24384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88152" y="6404984"/>
            <a:ext cx="3044952" cy="365760"/>
          </a:xfrm>
        </p:spPr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584448" cy="365760"/>
          </a:xfr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white">
          <a:xfrm>
            <a:off x="7010400" y="0"/>
            <a:ext cx="21336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 rot="5400000">
            <a:off x="4021836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6839712" y="2925763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Oval 14"/>
          <p:cNvSpPr/>
          <p:nvPr/>
        </p:nvSpPr>
        <p:spPr>
          <a:xfrm>
            <a:off x="6934200" y="3020251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15912" y="3009901"/>
            <a:ext cx="457200" cy="441325"/>
          </a:xfrm>
        </p:spPr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304800"/>
            <a:ext cx="6553200" cy="5821366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91400" y="304801"/>
            <a:ext cx="14478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5791200" y="6404984"/>
            <a:ext cx="3044952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F7088B4A-5E74-4E7B-8C78-CA63012A9A2F}" type="datetimeFigureOut">
              <a:rPr lang="en-US" smtClean="0"/>
              <a:t>6/25/2026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04800" y="6410848"/>
            <a:ext cx="35814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152400" y="1276743"/>
            <a:ext cx="8833104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Oval 14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4343400" y="1040174"/>
            <a:ext cx="4572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85344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>
    <p:fade/>
  </p:transition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Admin\Downloads\1764679326535-Photoroom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072322" y="-214314"/>
            <a:ext cx="2071678" cy="2071678"/>
          </a:xfrm>
          <a:prstGeom prst="rect">
            <a:avLst/>
          </a:prstGeom>
          <a:noFill/>
        </p:spPr>
      </p:pic>
      <p:pic>
        <p:nvPicPr>
          <p:cNvPr id="7" name="Picture 6" descr="RIT white logo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" y="0"/>
            <a:ext cx="5000628" cy="129119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5072074"/>
            <a:ext cx="3071833" cy="4770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>
              <a:defRPr sz="3600" b="1">
                <a:solidFill>
                  <a:srgbClr val="00D4FF"/>
                </a:solidFill>
                <a:latin typeface="Rajdhani"/>
              </a:defRPr>
            </a:pPr>
            <a:r>
              <a:t>Q-GUARD AI</a:t>
            </a:r>
          </a:p>
          <a:p>
            <a:pPr>
              <a:defRPr sz="3600" b="1">
                <a:solidFill>
                  <a:srgbClr val="00D4FF"/>
                </a:solidFill>
                <a:latin typeface="Rajdhani"/>
              </a:defRPr>
            </a:pPr>
            <a:r>
              <a:t>Multi-Agent Quantum Fraud Intelligence</a:t>
            </a:r>
          </a:p>
        </p:txBody>
      </p:sp>
      <p:pic>
        <p:nvPicPr>
          <p:cNvPr id="1029" name="Picture 5" descr="C:\Users\Admin\Downloads\IBM_logo.svg.png"/>
          <p:cNvPicPr>
            <a:picLocks noChangeAspect="1" noChangeArrowheads="1"/>
          </p:cNvPicPr>
          <p:nvPr/>
        </p:nvPicPr>
        <p:blipFill>
          <a:blip r:embed="rId5" cstate="print">
            <a:lum bright="40000"/>
          </a:blip>
          <a:srcRect/>
          <a:stretch>
            <a:fillRect/>
          </a:stretch>
        </p:blipFill>
        <p:spPr bwMode="auto">
          <a:xfrm>
            <a:off x="6588224" y="5885112"/>
            <a:ext cx="1285884" cy="480868"/>
          </a:xfrm>
          <a:prstGeom prst="rect">
            <a:avLst/>
          </a:prstGeom>
          <a:noFill/>
        </p:spPr>
      </p:pic>
      <p:pic>
        <p:nvPicPr>
          <p:cNvPr id="1030" name="Picture 6" descr="C:\Users\Admin\Downloads\logo-nqm.png"/>
          <p:cNvPicPr>
            <a:picLocks noChangeAspect="1" noChangeArrowheads="1"/>
          </p:cNvPicPr>
          <p:nvPr/>
        </p:nvPicPr>
        <p:blipFill>
          <a:blip r:embed="rId6">
            <a:lum bright="70000" contrast="-70000"/>
          </a:blip>
          <a:srcRect/>
          <a:stretch>
            <a:fillRect/>
          </a:stretch>
        </p:blipFill>
        <p:spPr bwMode="auto">
          <a:xfrm>
            <a:off x="5214942" y="5572140"/>
            <a:ext cx="1000132" cy="1106813"/>
          </a:xfrm>
          <a:prstGeom prst="rect">
            <a:avLst/>
          </a:prstGeom>
          <a:noFill/>
        </p:spPr>
      </p:pic>
      <p:sp>
        <p:nvSpPr>
          <p:cNvPr id="17" name="Rectangle 16"/>
          <p:cNvSpPr/>
          <p:nvPr/>
        </p:nvSpPr>
        <p:spPr>
          <a:xfrm>
            <a:off x="142876" y="5572140"/>
            <a:ext cx="4500562" cy="4770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>
              <a:defRPr sz="1400" b="1">
                <a:solidFill>
                  <a:srgbClr val="00FF9D"/>
                </a:solidFill>
                <a:latin typeface="Exo 2"/>
              </a:defRPr>
            </a:pPr>
            <a:r>
              <a:t>Team Schrödinger’s Coders</a:t>
            </a:r>
          </a:p>
          <a:p>
            <a:pPr>
              <a:defRPr sz="1400" b="1">
                <a:solidFill>
                  <a:srgbClr val="00FF9D"/>
                </a:solidFill>
                <a:latin typeface="Exo 2"/>
              </a:defRPr>
            </a:pPr>
            <a:r>
              <a:t>Members: Dhinith Pragalyan, Dhanveer M, Venkatesan S, Elamaran 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2844" y="6000768"/>
            <a:ext cx="4929222" cy="47705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>
              <a:defRPr sz="1400">
                <a:solidFill>
                  <a:srgbClr val="C8C8C8"/>
                </a:solidFill>
                <a:latin typeface="Share Tech Mono"/>
              </a:defRPr>
            </a:pPr>
            <a:r>
              <a:t>RIT Chennai — Quantathan 2026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5763447"/>
            <a:ext cx="866775" cy="71437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1. PROBLEM STATEMENT (QT-2.8)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Classical ML models check transactions in isolation, missing temporal laundering loops.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High False Positive rates annoy regular customers, increasing churn and operational friction.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Regulatory compliance (RBI/Central Bank) requires Explainable AI (XAI) parameters.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Coordinated attacks (Mule Rings, shared device emulators) bypass standard linear limits.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Solution: Q-Guard AI combines Multi-Agent intelligence with a Quantum Optimization layer.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1. PROBLEM STATEMENT (QT-2.8)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Classical ML models check transactions in isolation, missing temporal laundering loops.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High False Positive rates annoy regular customers, increasing churn and operational friction.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Regulatory compliance (RBI/Central Bank) requires Explainable AI (XAI) parameters.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Coordinated attacks (Mule Rings, shared device emulators) bypass standard linear limits.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Solution: Q-Guard AI combines Multi-Agent intelligence with a Quantum Optimization layer.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1. PROBLEM STATEMENT (QT-2.8)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Classical ML models check transactions in isolation, missing temporal laundering loops.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High False Positive rates annoy regular customers, increasing churn and operational friction.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Regulatory compliance (RBI/Central Bank) requires Explainable AI (XAI) parameters.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Coordinated attacks (Mule Rings, shared device emulators) bypass standard linear limits.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Solution: Q-Guard AI combines Multi-Agent intelligence with a Quantum Optimization layer.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2. Q-GUARD ARCHITECTURE: MULTI-AGENT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User Behavior Agent: Analyzes daily spending limit fractions and transaction volume.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Device Intelligence Agent: Detects OS versions, emulators, and device trust rating.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Merchant Rating Agent: Assesses merchant category hazard and chargeback rates.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Network Intelligence Agent: Monitors VPN usage, proxy IPs, and impossible travel.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Decentralized Ingestion: Captures separate threat layers simultaneously to prevent bypass.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2. Q-GUARD ARCHITECTURE: MULTI-AGENT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User Behavior Agent: Analyzes daily spending limit fractions and transaction volume.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Device Intelligence Agent: Detects OS versions, emulators, and device trust rating.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Merchant Rating Agent: Assesses merchant category hazard and chargeback rates.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Network Intelligence Agent: Monitors VPN usage, proxy IPs, and impossible travel.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Decentralized Ingestion: Captures separate threat layers simultaneously to prevent bypass.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3. QUANTUM WEIGHT OPTIMIZATION (QML LAYER)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State Encoding: Maps the 4 Agent risk variables directly to 4 Qubits (Q0 to Q3).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Entangling Circuit: Employs a Ring CNOT entangler to learn non-linear inter-agent correlations.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Dynamic Weighting: Aggregates risk dynamically based on Qubit Z-coordinate excitation.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Bloch Projections: Agent weights are proportional to excitation (Weight = 1.0 - Z).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Benefit: Captures non-linear threat vectors using 90% fewer parameters than classical NN.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3. QUANTUM WEIGHT OPTIMIZATION (QML LAYER)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State Encoding: Maps the 4 Agent risk variables directly to 4 Qubits (Q0 to Q3).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Entangling Circuit: Employs a Ring CNOT entangler to learn non-linear inter-agent correlations.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Dynamic Weighting: Aggregates risk dynamically based on Qubit Z-coordinate excitation.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Bloch Projections: Agent weights are proportional to excitation (Weight = 1.0 - Z).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Benefit: Captures non-linear threat vectors using 90% fewer parameters than classical NN.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4. ADAPTIVE CONTEXT THRESHOLD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Static Limits: Traditional systems block at a flat 80% limit, causing high friction.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Adaptive Threshold: Q-Guard shifts limits dynamically based on transaction context.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Late Night Hour Window (12 AM - 5 AM): Threshold drops to 65% (restrictive).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High chargeback Merchant Terminal: Threshold drops to 58% (tighter security).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Trusted Regular Customer: Threshold rises to 95% (minimizes customer friction).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4. ADAPTIVE CONTEXT THRESHOLD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Static Limits: Traditional systems block at a flat 80% limit, causing high friction.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Adaptive Threshold: Q-Guard shifts limits dynamically based on transaction context.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Late Night Hour Window (12 AM - 5 AM): Threshold drops to 65% (restrictive).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High chargeback Merchant Terminal: Threshold drops to 58% (tighter security).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Trusted Regular Customer: Threshold rises to 95% (minimizes customer friction).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5. SELF-EXPLAINABLE AI &amp; STRATEGY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Self-Explainable AI (XAI): Translates VQC state vectors into natural language warning logs.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Auditable Compliance: Outlines exactly why an agent triggered the transaction block.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Fraud Strategy Advisor: Recommends progressive mitigation checklists instead of binary blocks.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Mitigation Checklist: Request Face Authentication, Require SMS OTP, or Hold payout.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Benefit: Matches regulatory audit frameworks while keeping user friction minimal.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6. SCALABILITY &amp; DATABASE PIPELINE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Kaggle Database: Integrated with 3,000 real-world transaction logs (IEEE-CIS).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MongoDB Integration: Stores transactions and quantum telemetry in indexed collections.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FastAPI REST endpoints: Exposes VQC coordinates, dynamic weights, and strategies.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Vercel Deployment: Standalone HTML visualizer deployed live on cloud static servers.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Result: A scalable, production-grade Quantum-Graph system ready for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6. SCALABILITY &amp; DATABASE PIPELINE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Kaggle Database: Integrated with 3,000 real-world transaction logs (IEEE-CIS).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MongoDB Integration: Stores transactions and quantum telemetry in indexed collections.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FastAPI REST endpoints: Exposes VQC coordinates, dynamic weights, and strategies.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Vercel Deployment: Standalone HTML visualizer deployed live on cloud static servers.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Result: A scalable, production-grade Quantum-Graph system ready for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2. Q-GUARD ARCHITECTURE: MULTI-AGENT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User Behavior Agent: Analyzes daily spending limit fractions and transaction volume.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Device Intelligence Agent: Detects OS versions, emulators, and device trust rating.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Merchant Rating Agent: Assesses merchant category hazard and chargeback rates.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Network Intelligence Agent: Monitors VPN usage, proxy IPs, and impossible travel.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Decentralized Ingestion: Captures separate threat layers simultaneously to prevent bypass.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3. QUANTUM WEIGHT OPTIMIZATION (QML LAYER)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State Encoding: Maps the 4 Agent risk variables directly to 4 Qubits (Q0 to Q3).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Entangling Circuit: Employs a Ring CNOT entangler to learn non-linear inter-agent correlations.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Dynamic Weighting: Aggregates risk dynamically based on Qubit Z-coordinate excitation.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Bloch Projections: Agent weights are proportional to excitation (Weight = 1.0 - Z).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Benefit: Captures non-linear threat vectors using 90% fewer parameters than classical NN.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4. ADAPTIVE CONTEXT THRESHOLD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Static Limits: Traditional systems block at a flat 80% limit, causing high friction.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Adaptive Threshold: Q-Guard shifts limits dynamically based on transaction context.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Late Night Hour Window (12 AM - 5 AM): Threshold drops to 65% (restrictive).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High chargeback Merchant Terminal: Threshold drops to 58% (tighter security).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Trusted Regular Customer: Threshold rises to 95% (minimizes customer friction).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5. SELF-EXPLAINABLE AI &amp; STRATEGY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Self-Explainable AI (XAI): Translates VQC state vectors into natural language warning logs.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Auditable Compliance: Outlines exactly why an agent triggered the transaction block.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Fraud Strategy Advisor: Recommends progressive mitigation checklists instead of binary blocks.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Mitigation Checklist: Request Face Authentication, Require SMS OTP, or Hold payout.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Benefit: Matches regulatory audit frameworks while keeping user friction minimal.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0A2D50"/>
                </a:solidFill>
                <a:latin typeface="Rajdhani"/>
              </a:defRPr>
            </a:pPr>
            <a:r>
              <a:t>6. SCALABILITY &amp; DATABASE PIPELINE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Kaggle Database: Integrated with 3,000 real-world transaction logs (IEEE-CIS).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MongoDB Integration: Stores transactions and quantum telemetry in indexed collections.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FastAPI REST endpoints: Exposes VQC coordinates, dynamic weights, and strategies.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Vercel Deployment: Standalone HTML visualizer deployed live on cloud static servers.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283241"/>
                </a:solidFill>
                <a:latin typeface="Exo 2"/>
              </a:rPr>
              <a:t>Result: A scalable, production-grade Quantum-Graph system ready for deployment.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ivic">
  <a:themeElements>
    <a:clrScheme name="Opulent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Civic">
      <a:majorFont>
        <a:latin typeface="Georgia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Georgia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Civic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61</TotalTime>
  <Words>21</Words>
  <Application>Microsoft Office PowerPoint</Application>
  <PresentationFormat>On-screen Show (4:3)</PresentationFormat>
  <Paragraphs>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Rounded MT Bold</vt:lpstr>
      <vt:lpstr>Calibri</vt:lpstr>
      <vt:lpstr>Georgia</vt:lpstr>
      <vt:lpstr>Wingdings</vt:lpstr>
      <vt:lpstr>Wingdings 2</vt:lpstr>
      <vt:lpstr>Civic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</dc:creator>
  <cp:lastModifiedBy>HP</cp:lastModifiedBy>
  <cp:revision>9</cp:revision>
  <dcterms:created xsi:type="dcterms:W3CDTF">2026-06-25T14:12:27Z</dcterms:created>
  <dcterms:modified xsi:type="dcterms:W3CDTF">2026-06-25T17:33:27Z</dcterms:modified>
</cp:coreProperties>
</file>