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6" r:id="rId2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07C"/>
    <a:srgbClr val="00FF9D"/>
    <a:srgbClr val="9B695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1594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2.xml"/><Relationship Id="rId23" Type="http://schemas.openxmlformats.org/officeDocument/2006/relationships/slide" Target="slides/slide3.xml"/><Relationship Id="rId24" Type="http://schemas.openxmlformats.org/officeDocument/2006/relationships/slide" Target="slides/slide4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84611-C05A-4FE0-9E94-CECBDE5B39B4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DD5657-429F-4937-8DBC-7A2164C32DAC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DD5657-429F-4937-8DBC-7A2164C32DAC}" type="slidenum">
              <a:rPr lang="en-IN" smtClean="0"/>
              <a:t>2</a:t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DD5657-429F-4937-8DBC-7A2164C32DAC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85317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DD5657-429F-4937-8DBC-7A2164C32DAC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164420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8991600" y="3048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25146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371600" y="2819400"/>
            <a:ext cx="6400800" cy="1752600"/>
          </a:xfrm>
        </p:spPr>
        <p:txBody>
          <a:bodyPr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155448" y="2420112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Oval 12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1752600"/>
          </a:xfrm>
        </p:spPr>
        <p:txBody>
          <a:bodyPr anchor="b"/>
          <a:lstStyle>
            <a:lvl1pPr>
              <a:defRPr sz="4200">
                <a:solidFill>
                  <a:schemeClr val="accent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361688" y="1026372"/>
            <a:ext cx="457200" cy="441325"/>
          </a:xfrm>
        </p:spPr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4572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8991600" y="1905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152400" y="2286000"/>
            <a:ext cx="8833104" cy="304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55448" y="142352"/>
            <a:ext cx="8833104" cy="2139696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8426" y="2743200"/>
            <a:ext cx="6480174" cy="1673225"/>
          </a:xfrm>
        </p:spPr>
        <p:txBody>
          <a:bodyPr anchor="t"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152400" y="2438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Oval 9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Oval 10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33400"/>
            <a:ext cx="7772400" cy="1524000"/>
          </a:xfrm>
        </p:spPr>
        <p:txBody>
          <a:bodyPr anchor="b"/>
          <a:lstStyle>
            <a:lvl1pPr algn="ctr">
              <a:buNone/>
              <a:defRPr sz="4200" b="0" cap="none" baseline="0">
                <a:solidFill>
                  <a:srgbClr val="FFFFFF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91200" y="6409944"/>
            <a:ext cx="3044952" cy="365760"/>
          </a:xfrm>
        </p:spPr>
        <p:txBody>
          <a:bodyPr/>
          <a:lstStyle/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 flipV="1">
            <a:off x="4563080" y="1575652"/>
            <a:ext cx="8921" cy="4819557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>
          <a:xfrm>
            <a:off x="301752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half" idx="2"/>
          </p:nvPr>
        </p:nvSpPr>
        <p:spPr>
          <a:xfrm>
            <a:off x="4800600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raight Connector 9"/>
          <p:cNvSpPr>
            <a:spLocks noChangeShapeType="1"/>
          </p:cNvSpPr>
          <p:nvPr/>
        </p:nvSpPr>
        <p:spPr bwMode="auto">
          <a:xfrm flipV="1">
            <a:off x="4572000" y="2200275"/>
            <a:ext cx="0" cy="4187952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Rectangle 19"/>
          <p:cNvSpPr>
            <a:spLocks noChangeArrowheads="1"/>
          </p:cNvSpPr>
          <p:nvPr/>
        </p:nvSpPr>
        <p:spPr bwMode="white">
          <a:xfrm>
            <a:off x="0" y="0"/>
            <a:ext cx="9144000" cy="1447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Rectangle 10"/>
          <p:cNvSpPr/>
          <p:nvPr/>
        </p:nvSpPr>
        <p:spPr>
          <a:xfrm>
            <a:off x="152400" y="1371600"/>
            <a:ext cx="8833104" cy="914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145923" y="6391656"/>
            <a:ext cx="8833104" cy="310896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4040188" cy="732974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lang="en-US" sz="2200" b="1" dirty="0" smtClean="0">
                <a:solidFill>
                  <a:srgbClr val="FFFFFF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791330" y="1524000"/>
            <a:ext cx="4041775" cy="731520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sz="2200" b="1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4800" y="6409944"/>
            <a:ext cx="3581400" cy="365760"/>
          </a:xfrm>
        </p:spPr>
        <p:txBody>
          <a:bodyPr/>
          <a:lstStyle/>
          <a:p>
            <a:endParaRPr lang="en-IN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152400" y="128016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4" name="Content Placeholder 23"/>
          <p:cNvSpPr>
            <a:spLocks noGrp="1"/>
          </p:cNvSpPr>
          <p:nvPr>
            <p:ph sz="quarter" idx="2"/>
          </p:nvPr>
        </p:nvSpPr>
        <p:spPr>
          <a:xfrm>
            <a:off x="301752" y="2471383"/>
            <a:ext cx="4041648" cy="3818404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26" name="Content Placeholder 25"/>
          <p:cNvSpPr>
            <a:spLocks noGrp="1"/>
          </p:cNvSpPr>
          <p:nvPr>
            <p:ph sz="quarter" idx="4"/>
          </p:nvPr>
        </p:nvSpPr>
        <p:spPr>
          <a:xfrm>
            <a:off x="4800600" y="2471383"/>
            <a:ext cx="4038600" cy="3822192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25" name="Oval 24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Oval 26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343400" y="1042416"/>
            <a:ext cx="457200" cy="441325"/>
          </a:xfrm>
        </p:spPr>
        <p:txBody>
          <a:bodyPr/>
          <a:lstStyle>
            <a:lvl1pPr algn="ctr">
              <a:defRPr/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/>
        <p:txBody>
          <a:bodyPr rtlCol="0" anchor="b" anchorCtr="0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343400" y="1036020"/>
            <a:ext cx="457200" cy="441325"/>
          </a:xfrm>
        </p:spPr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52400" y="158496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267200" y="6324600"/>
            <a:ext cx="609600" cy="44132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>
            <a:spLocks noChangeArrowheads="1"/>
          </p:cNvSpPr>
          <p:nvPr/>
        </p:nvSpPr>
        <p:spPr bwMode="auto">
          <a:xfrm>
            <a:off x="152400" y="152400"/>
            <a:ext cx="8833104" cy="304800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118872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3" name="Rectangle 12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914400"/>
            <a:ext cx="2362200" cy="990600"/>
          </a:xfrm>
        </p:spPr>
        <p:txBody>
          <a:bodyPr anchor="b">
            <a:noAutofit/>
          </a:bodyPr>
          <a:lstStyle>
            <a:lvl1pPr algn="l">
              <a:buNone/>
              <a:defRPr sz="2200" b="1">
                <a:solidFill>
                  <a:srgbClr val="FFFFFF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381000" y="1981200"/>
            <a:ext cx="2362200" cy="4144963"/>
          </a:xfrm>
        </p:spPr>
        <p:txBody>
          <a:bodyPr/>
          <a:lstStyle>
            <a:lvl1pPr marL="0" indent="0">
              <a:spcAft>
                <a:spcPts val="1000"/>
              </a:spcAft>
              <a:buNone/>
              <a:defRPr sz="1600">
                <a:solidFill>
                  <a:srgbClr val="FFFFFF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Content Placeholder 19"/>
          <p:cNvSpPr>
            <a:spLocks noGrp="1"/>
          </p:cNvSpPr>
          <p:nvPr>
            <p:ph sz="quarter" idx="1"/>
          </p:nvPr>
        </p:nvSpPr>
        <p:spPr>
          <a:xfrm>
            <a:off x="3124200" y="685800"/>
            <a:ext cx="5638800" cy="54102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0" name="Oval 9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Oval 10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383280" cy="365760"/>
          </a:xfrm>
        </p:spPr>
        <p:txBody>
          <a:bodyPr/>
          <a:lstStyle/>
          <a:p>
            <a:endParaRPr lang="en-I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traight Connector 20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0" name="Rectangle 19"/>
          <p:cNvSpPr>
            <a:spLocks noChangeArrowheads="1"/>
          </p:cNvSpPr>
          <p:nvPr/>
        </p:nvSpPr>
        <p:spPr bwMode="auto">
          <a:xfrm>
            <a:off x="152400" y="152400"/>
            <a:ext cx="8833104" cy="301752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Rectangle 14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2" name="Oval 11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Oval 12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00375" y="5029200"/>
            <a:ext cx="5867400" cy="1219200"/>
          </a:xfrm>
        </p:spPr>
        <p:txBody>
          <a:bodyPr anchor="t">
            <a:noAutofit/>
          </a:bodyPr>
          <a:lstStyle>
            <a:lvl1pPr algn="l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00375" y="609600"/>
            <a:ext cx="5867400" cy="42672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00" y="990600"/>
            <a:ext cx="2438400" cy="5257800"/>
          </a:xfrm>
        </p:spPr>
        <p:txBody>
          <a:bodyPr/>
          <a:lstStyle>
            <a:lvl1pPr marL="0" indent="0">
              <a:spcAft>
                <a:spcPts val="1000"/>
              </a:spcAft>
              <a:buFontTx/>
              <a:buNone/>
              <a:defRPr sz="1600">
                <a:solidFill>
                  <a:srgbClr val="FFFFFF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22" name="Rectangle 21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788152" y="6404984"/>
            <a:ext cx="3044952" cy="365760"/>
          </a:xfrm>
        </p:spPr>
        <p:txBody>
          <a:bodyPr/>
          <a:lstStyle/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584448" cy="365760"/>
          </a:xfr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white">
          <a:xfrm>
            <a:off x="7010400" y="0"/>
            <a:ext cx="21336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 rot="5400000">
            <a:off x="4021836" y="3278124"/>
            <a:ext cx="6245352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6839712" y="2925763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Oval 14"/>
          <p:cNvSpPr/>
          <p:nvPr/>
        </p:nvSpPr>
        <p:spPr>
          <a:xfrm>
            <a:off x="6934200" y="3020251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15912" y="3009901"/>
            <a:ext cx="457200" cy="441325"/>
          </a:xfrm>
        </p:spPr>
        <p:txBody>
          <a:bodyPr/>
          <a:lstStyle/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304800"/>
            <a:ext cx="6553200" cy="5821366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91400" y="304801"/>
            <a:ext cx="14478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Rectangle 15"/>
          <p:cNvSpPr>
            <a:spLocks noChangeArrowheads="1"/>
          </p:cNvSpPr>
          <p:nvPr/>
        </p:nvSpPr>
        <p:spPr bwMode="white">
          <a:xfrm>
            <a:off x="0" y="0"/>
            <a:ext cx="9144000" cy="1393371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Rectangle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Rectangle 18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5791200" y="6404984"/>
            <a:ext cx="3044952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rgbClr val="FFFFFF"/>
                </a:solidFill>
              </a:defRPr>
            </a:lvl1pPr>
          </a:lstStyle>
          <a:p>
            <a:fld id="{F7088B4A-5E74-4E7B-8C78-CA63012A9A2F}" type="datetimeFigureOut">
              <a:rPr lang="en-US" smtClean="0"/>
              <a:t>7/9/2026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04800" y="6410848"/>
            <a:ext cx="35814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152400" y="1276743"/>
            <a:ext cx="8833104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Oval 11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Oval 14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4343400" y="1040174"/>
            <a:ext cx="457200" cy="441325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>
            <a:lvl1pPr algn="ctr" eaLnBrk="1" latinLnBrk="0" hangingPunct="1">
              <a:defRPr kumimoji="0" sz="1600"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D965746A-2488-49FC-9F89-55910A74292D}" type="slidenum">
              <a:rPr lang="en-IN" smtClean="0"/>
              <a:t>‹#›</a:t>
            </a:fld>
            <a:endParaRPr lang="en-IN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8534400" cy="459943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>
    <p:fade/>
  </p:transition>
  <p:txStyles>
    <p:titleStyle>
      <a:lvl1pPr algn="ctr" rtl="0" eaLnBrk="1" latinLnBrk="0" hangingPunct="1">
        <a:spcBef>
          <a:spcPct val="0"/>
        </a:spcBef>
        <a:buNone/>
        <a:defRPr kumimoji="0" sz="3300" kern="1200">
          <a:solidFill>
            <a:schemeClr val="accent3">
              <a:shade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"/>
        <a:buChar char=""/>
        <a:defRPr kumimoji="0"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ct val="20000"/>
        </a:spcBef>
        <a:buClr>
          <a:schemeClr val="accent3"/>
        </a:buClr>
        <a:buSzPct val="75000"/>
        <a:buFont typeface="Wingdings 2"/>
        <a:buChar char="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ct val="20000"/>
        </a:spcBef>
        <a:buClr>
          <a:schemeClr val="accent4"/>
        </a:buClr>
        <a:buSzPct val="70000"/>
        <a:buFont typeface="Wingdings"/>
        <a:buChar char="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ct val="20000"/>
        </a:spcBef>
        <a:buClr>
          <a:schemeClr val="accent5"/>
        </a:buClr>
        <a:buFontTx/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90000"/>
        <a:buChar char="•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rtl="0" eaLnBrk="1" latinLnBrk="0" hangingPunct="1">
        <a:spcBef>
          <a:spcPct val="20000"/>
        </a:spcBef>
        <a:buClr>
          <a:schemeClr val="accent4">
            <a:shade val="75000"/>
          </a:schemeClr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indent="-182880" algn="l" rtl="0" eaLnBrk="1" latinLnBrk="0" hangingPunct="1">
        <a:spcBef>
          <a:spcPct val="20000"/>
        </a:spcBef>
        <a:buClr>
          <a:schemeClr val="accent2">
            <a:shade val="75000"/>
          </a:schemeClr>
        </a:buClr>
        <a:buSzPct val="90000"/>
        <a:buChar char="•"/>
        <a:defRPr kumimoji="0" sz="1400" kern="1200" cap="all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Admin\Downloads\1764679326535-Photoroom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072322" y="-214314"/>
            <a:ext cx="2071678" cy="2071678"/>
          </a:xfrm>
          <a:prstGeom prst="rect">
            <a:avLst/>
          </a:prstGeom>
          <a:noFill/>
        </p:spPr>
      </p:pic>
      <p:pic>
        <p:nvPicPr>
          <p:cNvPr id="7" name="Picture 6" descr="RIT white logo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" y="0"/>
            <a:ext cx="5000628" cy="129119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42844" y="4097676"/>
            <a:ext cx="8964488" cy="1200329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>
              <a:defRPr sz="3600" b="1">
                <a:solidFill>
                  <a:srgbClr val="00D4FF"/>
                </a:solidFill>
                <a:latin typeface="Rajdhani"/>
              </a:defRPr>
            </a:pPr>
            <a:r>
              <a:rPr dirty="0"/>
              <a:t>Q-GUARD AI</a:t>
            </a:r>
          </a:p>
          <a:p>
            <a:pPr>
              <a:defRPr sz="3600" b="1">
                <a:solidFill>
                  <a:srgbClr val="00D4FF"/>
                </a:solidFill>
                <a:latin typeface="Rajdhani"/>
              </a:defRPr>
            </a:pPr>
            <a:r>
              <a:rPr dirty="0"/>
              <a:t>Multi-Agent Quantum Fraud Intelligence</a:t>
            </a:r>
          </a:p>
        </p:txBody>
      </p:sp>
      <p:pic>
        <p:nvPicPr>
          <p:cNvPr id="1029" name="Picture 5" descr="C:\Users\Admin\Downloads\IBM_logo.svg.png"/>
          <p:cNvPicPr>
            <a:picLocks noChangeAspect="1" noChangeArrowheads="1"/>
          </p:cNvPicPr>
          <p:nvPr/>
        </p:nvPicPr>
        <p:blipFill>
          <a:blip r:embed="rId5" cstate="print">
            <a:lum bright="40000"/>
          </a:blip>
          <a:srcRect/>
          <a:stretch>
            <a:fillRect/>
          </a:stretch>
        </p:blipFill>
        <p:spPr bwMode="auto">
          <a:xfrm>
            <a:off x="6588224" y="5885112"/>
            <a:ext cx="1285884" cy="480868"/>
          </a:xfrm>
          <a:prstGeom prst="rect">
            <a:avLst/>
          </a:prstGeom>
          <a:noFill/>
        </p:spPr>
      </p:pic>
      <p:pic>
        <p:nvPicPr>
          <p:cNvPr id="1030" name="Picture 6" descr="C:\Users\Admin\Downloads\logo-nqm.png"/>
          <p:cNvPicPr>
            <a:picLocks noChangeAspect="1" noChangeArrowheads="1"/>
          </p:cNvPicPr>
          <p:nvPr/>
        </p:nvPicPr>
        <p:blipFill>
          <a:blip r:embed="rId6">
            <a:lum bright="70000" contrast="-70000"/>
          </a:blip>
          <a:srcRect/>
          <a:stretch>
            <a:fillRect/>
          </a:stretch>
        </p:blipFill>
        <p:spPr bwMode="auto">
          <a:xfrm>
            <a:off x="5214942" y="5572140"/>
            <a:ext cx="1000132" cy="1106813"/>
          </a:xfrm>
          <a:prstGeom prst="rect">
            <a:avLst/>
          </a:prstGeom>
          <a:noFill/>
        </p:spPr>
      </p:pic>
      <p:sp>
        <p:nvSpPr>
          <p:cNvPr id="17" name="Rectangle 16"/>
          <p:cNvSpPr/>
          <p:nvPr/>
        </p:nvSpPr>
        <p:spPr>
          <a:xfrm>
            <a:off x="158918" y="5286393"/>
            <a:ext cx="6429306" cy="1384995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>
              <a:defRPr sz="1400" b="1">
                <a:solidFill>
                  <a:srgbClr val="00FF9D"/>
                </a:solidFill>
                <a:latin typeface="Exo 2"/>
              </a:defRPr>
            </a:pPr>
            <a:r>
              <a:rPr dirty="0"/>
              <a:t>Team</a:t>
            </a:r>
            <a:r>
              <a:rPr lang="en-IN" dirty="0"/>
              <a:t> Name :</a:t>
            </a:r>
            <a:r>
              <a:rPr dirty="0"/>
              <a:t> Schrödinger’s Coders</a:t>
            </a:r>
            <a:br>
              <a:rPr lang="en-IN" dirty="0"/>
            </a:br>
            <a:endParaRPr dirty="0"/>
          </a:p>
          <a:p>
            <a:pPr>
              <a:defRPr sz="1400" b="1">
                <a:solidFill>
                  <a:srgbClr val="00FF9D"/>
                </a:solidFill>
                <a:latin typeface="Exo 2"/>
              </a:defRPr>
            </a:pPr>
            <a:r>
              <a:rPr dirty="0"/>
              <a:t>Members: </a:t>
            </a:r>
            <a:r>
              <a:rPr dirty="0" err="1"/>
              <a:t>Dhinith</a:t>
            </a:r>
            <a:r>
              <a:rPr dirty="0"/>
              <a:t> </a:t>
            </a:r>
            <a:r>
              <a:rPr dirty="0" err="1"/>
              <a:t>Pragalyan</a:t>
            </a:r>
            <a:r>
              <a:rPr lang="en-IN" dirty="0"/>
              <a:t> M</a:t>
            </a:r>
            <a:r>
              <a:rPr dirty="0"/>
              <a:t>, Dhanveer M, Venkatesan S, Elamaran B</a:t>
            </a:r>
            <a:br>
              <a:rPr lang="en-IN" dirty="0"/>
            </a:br>
            <a:br>
              <a:rPr lang="en-IN" dirty="0"/>
            </a:br>
            <a:r>
              <a:rPr lang="en-IN" dirty="0">
                <a:solidFill>
                  <a:srgbClr val="00C07C"/>
                </a:solidFill>
              </a:rPr>
              <a:t>Panimalar engineering college , Chennai.</a:t>
            </a:r>
          </a:p>
          <a:p>
            <a:pPr>
              <a:defRPr sz="1400" b="1">
                <a:solidFill>
                  <a:srgbClr val="00FF9D"/>
                </a:solidFill>
                <a:latin typeface="Exo 2"/>
              </a:defRPr>
            </a:pPr>
            <a:endParaRPr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5763447"/>
            <a:ext cx="866775" cy="71437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PROBLEM STATEMENT (QT-2.8)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Mule Fund Relays: Syndicates route stolen funds through intermediate accounts in minutes.</a:t>
            </a:r>
          </a:p>
          <a:p>
            <a:pPr>
              <a:spcAft>
                <a:spcPts val="1400"/>
              </a:spcAft>
            </a:pPr>
            <a:r>
              <a:t>Device Farms: Fraudsters use virtual emulators to spoof 'trusted devices' at scale.</a:t>
            </a:r>
          </a:p>
          <a:p>
            <a:pPr>
              <a:spcAft>
                <a:spcPts val="1400"/>
              </a:spcAft>
            </a:pPr>
            <a:r>
              <a:t>Velocity Structuring: Bots slice transactions into micro-amounts below default detection limits.</a:t>
            </a:r>
          </a:p>
          <a:p>
            <a:pPr>
              <a:spcAft>
                <a:spcPts val="1400"/>
              </a:spcAft>
            </a:pPr>
            <a:r>
              <a:t>Linear Blindspot: Traditional rules evaluate details in isolation, missing non-linear loops.</a:t>
            </a:r>
          </a:p>
          <a:p>
            <a:pPr>
              <a:spcAft>
                <a:spcPts val="1400"/>
              </a:spcAft>
            </a:pPr>
            <a:r>
              <a:t>Solution: Q-Guard AI blends Multi-Agent ingestion with a Parameterized Quantum Circuit.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PROBLEM STATEMENT (QT-2.8)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Mule Fund Relays: Syndicates route stolen funds through intermediate accounts in minutes.</a:t>
            </a:r>
          </a:p>
          <a:p>
            <a:pPr>
              <a:spcAft>
                <a:spcPts val="1400"/>
              </a:spcAft>
            </a:pPr>
            <a:r>
              <a:t>Device Farms: Fraudsters use virtual emulators to spoof 'trusted devices' at scale.</a:t>
            </a:r>
          </a:p>
          <a:p>
            <a:pPr>
              <a:spcAft>
                <a:spcPts val="1400"/>
              </a:spcAft>
            </a:pPr>
            <a:r>
              <a:t>Velocity Structuring: Bots slice transactions into micro-amounts below default detection limits.</a:t>
            </a:r>
          </a:p>
          <a:p>
            <a:pPr>
              <a:spcAft>
                <a:spcPts val="1400"/>
              </a:spcAft>
            </a:pPr>
            <a:r>
              <a:t>Linear Blindspot: Traditional rules evaluate details in isolation, missing non-linear loops.</a:t>
            </a:r>
          </a:p>
          <a:p>
            <a:pPr>
              <a:spcAft>
                <a:spcPts val="1400"/>
              </a:spcAft>
            </a:pPr>
            <a:r>
              <a:t>Solution: Q-Guard AI blends Multi-Agent ingestion with a Parameterized Quantum Circuit.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WHY CLASSICAL MACHINE LEARNING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High False Positives: Static rules trigger blocks on regular traveler activity, creating churn.</a:t>
            </a:r>
          </a:p>
          <a:p>
            <a:pPr>
              <a:spcAft>
                <a:spcPts val="1400"/>
              </a:spcAft>
            </a:pPr>
            <a:r>
              <a:t>Dimensionality Curse: Linking deep behavior details requires heavy classical networks.</a:t>
            </a:r>
          </a:p>
          <a:p>
            <a:pPr>
              <a:spcAft>
                <a:spcPts val="1400"/>
              </a:spcAft>
            </a:pPr>
            <a:r>
              <a:t>Black-Box Decisioning: Deep learning models cannot explain logs for audit compliance.</a:t>
            </a:r>
          </a:p>
          <a:p>
            <a:pPr>
              <a:spcAft>
                <a:spcPts val="1400"/>
              </a:spcAft>
            </a:pPr>
            <a:r>
              <a:t>Rigid Threshold Limits: Static fraud limits leave banks open to off-peak night exploits.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WHY CLASSICAL MACHINE LEARNING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High False Positives: Static rules trigger blocks on regular traveler activity, creating churn.</a:t>
            </a:r>
          </a:p>
          <a:p>
            <a:pPr>
              <a:spcAft>
                <a:spcPts val="1400"/>
              </a:spcAft>
            </a:pPr>
            <a:r>
              <a:t>Dimensionality Curse: Linking deep behavior details requires heavy classical networks.</a:t>
            </a:r>
          </a:p>
          <a:p>
            <a:pPr>
              <a:spcAft>
                <a:spcPts val="1400"/>
              </a:spcAft>
            </a:pPr>
            <a:r>
              <a:t>Black-Box Decisioning: Deep learning models cannot explain logs for audit compliance.</a:t>
            </a:r>
          </a:p>
          <a:p>
            <a:pPr>
              <a:spcAft>
                <a:spcPts val="1400"/>
              </a:spcAft>
            </a:pPr>
            <a:r>
              <a:t>Rigid Threshold Limits: Static fraud limits leave banks open to off-peak night exploits.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THE QUANTUM ADVANTAGE (QML LAYER)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Non-Linear Correlation: Quantum state entanglements capture inter-agent correlations naturally.</a:t>
            </a:r>
          </a:p>
          <a:p>
            <a:pPr>
              <a:spcAft>
                <a:spcPts val="1400"/>
              </a:spcAft>
            </a:pPr>
            <a:r>
              <a:t>Parameter Efficiency: A 4-qubit classifier uses 90% fewer weights than classical models.</a:t>
            </a:r>
          </a:p>
          <a:p>
            <a:pPr>
              <a:spcAft>
                <a:spcPts val="1400"/>
              </a:spcAft>
            </a:pPr>
            <a:r>
              <a:t>Hilbert Mapping: Translates complex user behavior metrics to subatomic quantum states.</a:t>
            </a:r>
          </a:p>
          <a:p>
            <a:pPr>
              <a:spcAft>
                <a:spcPts val="1400"/>
              </a:spcAft>
            </a:pPr>
            <a:r>
              <a:t>Hardware Readiness: Designed to plug natively into physical NISQ QPUs (like IBM Quantum).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THE QUANTUM ADVANTAGE (QML LAYER)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Non-Linear Correlation: Quantum state entanglements capture inter-agent correlations naturally.</a:t>
            </a:r>
          </a:p>
          <a:p>
            <a:pPr>
              <a:spcAft>
                <a:spcPts val="1400"/>
              </a:spcAft>
            </a:pPr>
            <a:r>
              <a:t>Parameter Efficiency: A 4-qubit classifier uses 90% fewer weights than classical models.</a:t>
            </a:r>
          </a:p>
          <a:p>
            <a:pPr>
              <a:spcAft>
                <a:spcPts val="1400"/>
              </a:spcAft>
            </a:pPr>
            <a:r>
              <a:t>Hilbert Mapping: Translates complex user behavior metrics to subatomic quantum states.</a:t>
            </a:r>
          </a:p>
          <a:p>
            <a:pPr>
              <a:spcAft>
                <a:spcPts val="1400"/>
              </a:spcAft>
            </a:pPr>
            <a:r>
              <a:t>Hardware Readiness: Designed to plug natively into physical NISQ QPUs (like IBM Quantum).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MULTI-AGENT INGESTION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User Agent: Analyzes spending limit fraction deviations and transaction timestamps.</a:t>
            </a:r>
          </a:p>
          <a:p>
            <a:pPr>
              <a:spcAft>
                <a:spcPts val="1400"/>
              </a:spcAft>
            </a:pPr>
            <a:r>
              <a:t>Device Agent: Assesses browser attributes, OS versions, emulator footprints, and device age.</a:t>
            </a:r>
          </a:p>
          <a:p>
            <a:pPr>
              <a:spcAft>
                <a:spcPts val="1400"/>
              </a:spcAft>
            </a:pPr>
            <a:r>
              <a:t>Merchant Agent: Monitors seller category hazard levels and historic chargeback metrics.</a:t>
            </a:r>
          </a:p>
          <a:p>
            <a:pPr>
              <a:spcAft>
                <a:spcPts val="1400"/>
              </a:spcAft>
            </a:pPr>
            <a:r>
              <a:t>Network Agent: Assesses VPN/proxy usage, geodistance anomalies, and impossible travel velocity.</a:t>
            </a:r>
          </a:p>
          <a:p>
            <a:pPr>
              <a:spcAft>
                <a:spcPts val="1400"/>
              </a:spcAft>
            </a:pPr>
            <a:r>
              <a:t>Decentralized Design: Ensures multiple threat dimensions are ingested simultaneously.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MULTI-AGENT INGESTION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User Agent: Analyzes spending limit fraction deviations and transaction timestamps.</a:t>
            </a:r>
          </a:p>
          <a:p>
            <a:pPr>
              <a:spcAft>
                <a:spcPts val="1400"/>
              </a:spcAft>
            </a:pPr>
            <a:r>
              <a:t>Device Agent: Assesses browser attributes, OS versions, emulator footprints, and device age.</a:t>
            </a:r>
          </a:p>
          <a:p>
            <a:pPr>
              <a:spcAft>
                <a:spcPts val="1400"/>
              </a:spcAft>
            </a:pPr>
            <a:r>
              <a:t>Merchant Agent: Monitors seller category hazard levels and historic chargeback metrics.</a:t>
            </a:r>
          </a:p>
          <a:p>
            <a:pPr>
              <a:spcAft>
                <a:spcPts val="1400"/>
              </a:spcAft>
            </a:pPr>
            <a:r>
              <a:t>Network Agent: Assesses VPN/proxy usage, geodistance anomalies, and impossible travel velocity.</a:t>
            </a:r>
          </a:p>
          <a:p>
            <a:pPr>
              <a:spcAft>
                <a:spcPts val="1400"/>
              </a:spcAft>
            </a:pPr>
            <a:r>
              <a:t>Decentralized Design: Ensures multiple threat dimensions are ingested simultaneously.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BLOCH SPHERE &amp; STATE VECTOR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Angle Encoding: Local agent threat outputs (0 to 1) map to rotation angles (0 to Pi).</a:t>
            </a:r>
          </a:p>
          <a:p>
            <a:pPr>
              <a:spcAft>
                <a:spcPts val="1400"/>
              </a:spcAft>
            </a:pPr>
            <a:r>
              <a:t>Qubit Allocation: Initializes a 4-qubit state, applying Ry rotation gates to each qubit.</a:t>
            </a:r>
          </a:p>
          <a:p>
            <a:pPr>
              <a:spcAft>
                <a:spcPts val="1400"/>
              </a:spcAft>
            </a:pPr>
            <a:r>
              <a:t>Bloch Projections: Risk levels are mapped as coordinates on a 3D Bloch Sphere vector.</a:t>
            </a:r>
          </a:p>
          <a:p>
            <a:pPr>
              <a:spcAft>
                <a:spcPts val="1400"/>
              </a:spcAft>
            </a:pPr>
            <a:r>
              <a:t>Excitation Tracking: Elevated telemetry flags push the state vectors closer to the |1&gt; pole.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BLOCH SPHERE &amp; STATE VECTOR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Angle Encoding: Local agent threat outputs (0 to 1) map to rotation angles (0 to Pi).</a:t>
            </a:r>
          </a:p>
          <a:p>
            <a:pPr>
              <a:spcAft>
                <a:spcPts val="1400"/>
              </a:spcAft>
            </a:pPr>
            <a:r>
              <a:t>Qubit Allocation: Initializes a 4-qubit state, applying Ry rotation gates to each qubit.</a:t>
            </a:r>
          </a:p>
          <a:p>
            <a:pPr>
              <a:spcAft>
                <a:spcPts val="1400"/>
              </a:spcAft>
            </a:pPr>
            <a:r>
              <a:t>Bloch Projections: Risk levels are mapped as coordinates on a 3D Bloch Sphere vector.</a:t>
            </a:r>
          </a:p>
          <a:p>
            <a:pPr>
              <a:spcAft>
                <a:spcPts val="1400"/>
              </a:spcAft>
            </a:pPr>
            <a:r>
              <a:t>Excitation Tracking: Elevated telemetry flags push the state vectors closer to the |1&gt; pole.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VARIATIONAL QUANTUM CIRCUIT (VQC)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Ansatz Entanglement: Connects qubits in a ring topology (Q0-&gt;Q1-&gt;Q2-&gt;Q3-&gt;Q0) using CNOT gates.</a:t>
            </a:r>
          </a:p>
          <a:p>
            <a:pPr>
              <a:spcAft>
                <a:spcPts val="1400"/>
              </a:spcAft>
            </a:pPr>
            <a:r>
              <a:t>Coordinated Learning: Entanglement allows Q-Guard to associate user details with device risk.</a:t>
            </a:r>
          </a:p>
          <a:p>
            <a:pPr>
              <a:spcAft>
                <a:spcPts val="1400"/>
              </a:spcAft>
            </a:pPr>
            <a:r>
              <a:t>Variational Tuning: Fine-tunes model weights dynamically using rotation parameter loops.</a:t>
            </a:r>
          </a:p>
          <a:p>
            <a:pPr>
              <a:spcAft>
                <a:spcPts val="1400"/>
              </a:spcAft>
            </a:pPr>
            <a:r>
              <a:t>Output Expectation: Calculates the Z-axis expectation value of each qubit upon measurement.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VARIATIONAL QUANTUM CIRCUIT (VQC)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Ansatz Entanglement: Connects qubits in a ring topology (Q0-&gt;Q1-&gt;Q2-&gt;Q3-&gt;Q0) using CNOT gates.</a:t>
            </a:r>
          </a:p>
          <a:p>
            <a:pPr>
              <a:spcAft>
                <a:spcPts val="1400"/>
              </a:spcAft>
            </a:pPr>
            <a:r>
              <a:t>Coordinated Learning: Entanglement allows Q-Guard to associate user details with device risk.</a:t>
            </a:r>
          </a:p>
          <a:p>
            <a:pPr>
              <a:spcAft>
                <a:spcPts val="1400"/>
              </a:spcAft>
            </a:pPr>
            <a:r>
              <a:t>Variational Tuning: Fine-tunes model weights dynamically using rotation parameter loops.</a:t>
            </a:r>
          </a:p>
          <a:p>
            <a:pPr>
              <a:spcAft>
                <a:spcPts val="1400"/>
              </a:spcAft>
            </a:pPr>
            <a:r>
              <a:t>Output Expectation: Calculates the Z-axis expectation value of each qubit upon measurement.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DYNAMIC BLOCH VECTOR WEIGHTING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Dynamic Weights: Calculates weights directly from Bloch Z-projection: W = (1 - Z)/2.</a:t>
            </a:r>
          </a:p>
          <a:p>
            <a:pPr>
              <a:spcAft>
                <a:spcPts val="1400"/>
              </a:spcAft>
            </a:pPr>
            <a:r>
              <a:t>Adaptive Focus: System dynamically shifts priority to the agent showing the highest anomaly.</a:t>
            </a:r>
          </a:p>
          <a:p>
            <a:pPr>
              <a:spcAft>
                <a:spcPts val="1400"/>
              </a:spcAft>
            </a:pPr>
            <a:r>
              <a:t>Combined Risk Scoring: Calculates final score as a weighted sum of qubit measurements.</a:t>
            </a:r>
          </a:p>
          <a:p>
            <a:pPr>
              <a:spcAft>
                <a:spcPts val="1400"/>
              </a:spcAft>
            </a:pPr>
            <a:r>
              <a:t>Noise Suppression: Low-risk background telemetry is dynamically ignored to save database bandwidth.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DYNAMIC BLOCH VECTOR WEIGHTING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Dynamic Weights: Calculates weights directly from Bloch Z-projection: W = (1 - Z)/2.</a:t>
            </a:r>
          </a:p>
          <a:p>
            <a:pPr>
              <a:spcAft>
                <a:spcPts val="1400"/>
              </a:spcAft>
            </a:pPr>
            <a:r>
              <a:t>Adaptive Focus: System dynamically shifts priority to the agent showing the highest anomaly.</a:t>
            </a:r>
          </a:p>
          <a:p>
            <a:pPr>
              <a:spcAft>
                <a:spcPts val="1400"/>
              </a:spcAft>
            </a:pPr>
            <a:r>
              <a:t>Combined Risk Scoring: Calculates final score as a weighted sum of qubit measurements.</a:t>
            </a:r>
          </a:p>
          <a:p>
            <a:pPr>
              <a:spcAft>
                <a:spcPts val="1400"/>
              </a:spcAft>
            </a:pPr>
            <a:r>
              <a:t>Noise Suppression: Low-risk background telemetry is dynamically ignored to save database bandwidth.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ADAPTIVE CONTEXT THRESHOLD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Dynamic Guardrails: Replaces flat, static 80% limits with context-aware boundaries.</a:t>
            </a:r>
          </a:p>
          <a:p>
            <a:pPr>
              <a:spcAft>
                <a:spcPts val="1400"/>
              </a:spcAft>
            </a:pPr>
            <a:r>
              <a:t>Time Window (12 AM - 5 AM): Threshold drops to 65% to defend against off-hour scams.</a:t>
            </a:r>
          </a:p>
          <a:p>
            <a:pPr>
              <a:spcAft>
                <a:spcPts val="1400"/>
              </a:spcAft>
            </a:pPr>
            <a:r>
              <a:t>Merchant Context: Limit drops to 58% for high-hazard category terminal devices.</a:t>
            </a:r>
          </a:p>
          <a:p>
            <a:pPr>
              <a:spcAft>
                <a:spcPts val="1400"/>
              </a:spcAft>
            </a:pPr>
            <a:r>
              <a:t>Customer Context: Threshold relaxes to 95% for trusted, long-standing user profiles.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ADAPTIVE CONTEXT THRESHOLD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Dynamic Guardrails: Replaces flat, static 80% limits with context-aware boundaries.</a:t>
            </a:r>
          </a:p>
          <a:p>
            <a:pPr>
              <a:spcAft>
                <a:spcPts val="1400"/>
              </a:spcAft>
            </a:pPr>
            <a:r>
              <a:t>Time Window (12 AM - 5 AM): Threshold drops to 65% to defend against off-hour scams.</a:t>
            </a:r>
          </a:p>
          <a:p>
            <a:pPr>
              <a:spcAft>
                <a:spcPts val="1400"/>
              </a:spcAft>
            </a:pPr>
            <a:r>
              <a:t>Merchant Context: Limit drops to 58% for high-hazard category terminal devices.</a:t>
            </a:r>
          </a:p>
          <a:p>
            <a:pPr>
              <a:spcAft>
                <a:spcPts val="1400"/>
              </a:spcAft>
            </a:pPr>
            <a:r>
              <a:t>Customer Context: Threshold relaxes to 95% for trusted, long-standing user profiles.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SELF-EXPLAINABLE AI (XAI) &amp; AUDITING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Translation Pipeline: Converts VQC coordinates into natural language audit logs.</a:t>
            </a:r>
          </a:p>
          <a:p>
            <a:pPr>
              <a:spcAft>
                <a:spcPts val="1400"/>
              </a:spcAft>
            </a:pPr>
            <a:r>
              <a:t>Regulatory Compliance: Outlines exactly why a transaction was flagged or blocked.</a:t>
            </a:r>
          </a:p>
          <a:p>
            <a:pPr>
              <a:spcAft>
                <a:spcPts val="1400"/>
              </a:spcAft>
            </a:pPr>
            <a:r>
              <a:t>Anti-Black Box: Ensures fraud analysts can explain any system decision to RBI auditors.</a:t>
            </a:r>
          </a:p>
          <a:p>
            <a:pPr>
              <a:spcAft>
                <a:spcPts val="1400"/>
              </a:spcAft>
            </a:pPr>
            <a:r>
              <a:t>Visual Threat Mapping: Provides a dynamic 3D visual of the Bloch sphere state space.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SELF-EXPLAINABLE AI (XAI) &amp; AUDITING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Translation Pipeline: Converts VQC coordinates into natural language audit logs.</a:t>
            </a:r>
          </a:p>
          <a:p>
            <a:pPr>
              <a:spcAft>
                <a:spcPts val="1400"/>
              </a:spcAft>
            </a:pPr>
            <a:r>
              <a:t>Regulatory Compliance: Outlines exactly why a transaction was flagged or blocked.</a:t>
            </a:r>
          </a:p>
          <a:p>
            <a:pPr>
              <a:spcAft>
                <a:spcPts val="1400"/>
              </a:spcAft>
            </a:pPr>
            <a:r>
              <a:t>Anti-Black Box: Ensures fraud analysts can explain any system decision to RBI auditors.</a:t>
            </a:r>
          </a:p>
          <a:p>
            <a:pPr>
              <a:spcAft>
                <a:spcPts val="1400"/>
              </a:spcAft>
            </a:pPr>
            <a:r>
              <a:t>Visual Threat Mapping: Provides a dynamic 3D visual of the Bloch sphere state space.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STRATEGIC MITIGATION CHECKLISTS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Multi-Stage Security: Replaces crude binary block decisions with progressive checklists.</a:t>
            </a:r>
          </a:p>
          <a:p>
            <a:pPr>
              <a:spcAft>
                <a:spcPts val="1400"/>
              </a:spcAft>
            </a:pPr>
            <a:r>
              <a:t>Low Risk: Process transaction instantly (frictionless flow).</a:t>
            </a:r>
          </a:p>
          <a:p>
            <a:pPr>
              <a:spcAft>
                <a:spcPts val="1400"/>
              </a:spcAft>
            </a:pPr>
            <a:r>
              <a:t>Medium Risk: Prompt for SMS OTP and email code verification.</a:t>
            </a:r>
          </a:p>
          <a:p>
            <a:pPr>
              <a:spcAft>
                <a:spcPts val="1400"/>
              </a:spcAft>
            </a:pPr>
            <a:r>
              <a:t>High Risk: Require biometric Face Authentication check.</a:t>
            </a:r>
          </a:p>
          <a:p>
            <a:pPr>
              <a:spcAft>
                <a:spcPts val="1400"/>
              </a:spcAft>
            </a:pPr>
            <a:r>
              <a:t>Critical Risk: Freeze transaction and alert the bank's fraud mitigation desk.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STRATEGIC MITIGATION CHECKLISTS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Multi-Stage Security: Replaces crude binary block decisions with progressive checklists.</a:t>
            </a:r>
          </a:p>
          <a:p>
            <a:pPr>
              <a:spcAft>
                <a:spcPts val="1400"/>
              </a:spcAft>
            </a:pPr>
            <a:r>
              <a:t>Low Risk: Process transaction instantly (frictionless flow).</a:t>
            </a:r>
          </a:p>
          <a:p>
            <a:pPr>
              <a:spcAft>
                <a:spcPts val="1400"/>
              </a:spcAft>
            </a:pPr>
            <a:r>
              <a:t>Medium Risk: Prompt for SMS OTP and email code verification.</a:t>
            </a:r>
          </a:p>
          <a:p>
            <a:pPr>
              <a:spcAft>
                <a:spcPts val="1400"/>
              </a:spcAft>
            </a:pPr>
            <a:r>
              <a:t>High Risk: Require biometric Face Authentication check.</a:t>
            </a:r>
          </a:p>
          <a:p>
            <a:pPr>
              <a:spcAft>
                <a:spcPts val="1400"/>
              </a:spcAft>
            </a:pPr>
            <a:r>
              <a:t>Critical Risk: Freeze transaction and alert the bank's fraud mitigation desk.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SCALABILITY &amp; DATABASE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Dataset Loading: Mapped to 3,000 real-world transaction logs from the Kaggle dataset.</a:t>
            </a:r>
          </a:p>
          <a:p>
            <a:pPr>
              <a:spcAft>
                <a:spcPts val="1400"/>
              </a:spcAft>
            </a:pPr>
            <a:r>
              <a:t>MongoDB Pipeline: Stores telemetry, dynamic weights, and strategies in indexed collections.</a:t>
            </a:r>
          </a:p>
          <a:p>
            <a:pPr>
              <a:spcAft>
                <a:spcPts val="1400"/>
              </a:spcAft>
            </a:pPr>
            <a:r>
              <a:t>FastAPI REST Endpoints: Exposes Bloch coordinates, agent weights, and explanation logs.</a:t>
            </a:r>
          </a:p>
          <a:p>
            <a:pPr>
              <a:spcAft>
                <a:spcPts val="1400"/>
              </a:spcAft>
            </a:pPr>
            <a:r>
              <a:t>Vercel Deployment: Live static visualizer deployed on secure cloud servers.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SCALABILITY &amp; DATABASE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Dataset Loading: Mapped to 3,000 real-world transaction logs from the Kaggle dataset.</a:t>
            </a:r>
          </a:p>
          <a:p>
            <a:pPr>
              <a:spcAft>
                <a:spcPts val="1400"/>
              </a:spcAft>
            </a:pPr>
            <a:r>
              <a:t>MongoDB Pipeline: Stores telemetry, dynamic weights, and strategies in indexed collections.</a:t>
            </a:r>
          </a:p>
          <a:p>
            <a:pPr>
              <a:spcAft>
                <a:spcPts val="1400"/>
              </a:spcAft>
            </a:pPr>
            <a:r>
              <a:t>FastAPI REST Endpoints: Exposes Bloch coordinates, agent weights, and explanation logs.</a:t>
            </a:r>
          </a:p>
          <a:p>
            <a:pPr>
              <a:spcAft>
                <a:spcPts val="1400"/>
              </a:spcAft>
            </a:pPr>
            <a:r>
              <a:t>Vercel Deployment: Live static visualizer deployed on secure cloud servers.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FUTURE SCOPE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QPU Deployment: Porting the simulated quantum layers directly to physical IBM QPUs.</a:t>
            </a:r>
          </a:p>
          <a:p>
            <a:pPr>
              <a:spcAft>
                <a:spcPts val="1400"/>
              </a:spcAft>
            </a:pPr>
            <a:r>
              <a:t>Graph Neural Network (GNN): Merging VQC with GNNs to trace large money laundering rings.</a:t>
            </a:r>
          </a:p>
          <a:p>
            <a:pPr>
              <a:spcAft>
                <a:spcPts val="1400"/>
              </a:spcAft>
            </a:pPr>
            <a:r>
              <a:t>Open Banking API: Packaging Q-Guard as a plug-and-play middleware module.</a:t>
            </a:r>
          </a:p>
          <a:p>
            <a:pPr>
              <a:spcAft>
                <a:spcPts val="1400"/>
              </a:spcAft>
            </a:pPr>
            <a:r>
              <a:t>Schrödinger's Coders: Securing the future of payments using quantum computing principles.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FUTURE SCOPE &amp;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quarter"/>
          </p:nvPr>
        </p:nvSpPr>
        <p:spPr/>
        <p:txBody>
          <a:bodyPr wrap="square"/>
          <a:lstStyle/>
          <a:p>
            <a:pPr>
              <a:spcAft>
                <a:spcPts val="1400"/>
              </a:spcAft>
            </a:pPr>
            <a:r>
              <a:t>QPU Deployment: Porting the simulated quantum layers directly to physical IBM QPUs.</a:t>
            </a:r>
          </a:p>
          <a:p>
            <a:pPr>
              <a:spcAft>
                <a:spcPts val="1400"/>
              </a:spcAft>
            </a:pPr>
            <a:r>
              <a:t>Graph Neural Network (GNN): Merging VQC with GNNs to trace large money laundering rings.</a:t>
            </a:r>
          </a:p>
          <a:p>
            <a:pPr>
              <a:spcAft>
                <a:spcPts val="1400"/>
              </a:spcAft>
            </a:pPr>
            <a:r>
              <a:t>Open Banking API: Packaging Q-Guard as a plug-and-play middleware module.</a:t>
            </a:r>
          </a:p>
          <a:p>
            <a:pPr>
              <a:spcAft>
                <a:spcPts val="1400"/>
              </a:spcAft>
            </a:pPr>
            <a:r>
              <a:t>Schrödinger's Coders: Securing the future of payments using quantum computing principles.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50CB0-4719-654B-6943-E02F7DD09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76672"/>
            <a:ext cx="8534400" cy="758952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Future Scope &amp; Conclusion</a:t>
            </a:r>
            <a:br>
              <a:rPr lang="en-IN" dirty="0"/>
            </a:b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D51C3-1493-886D-A1E2-9C8249A2480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IN" sz="2200" b="1" dirty="0"/>
              <a:t>Physical QPU Deployment</a:t>
            </a:r>
            <a:r>
              <a:rPr lang="en-IN" sz="2200" dirty="0"/>
              <a:t>: Transitioning from simulated quantum noise-free circuits to physical QPUs (like IBM Quantum).</a:t>
            </a:r>
          </a:p>
          <a:p>
            <a:r>
              <a:rPr lang="en-IN" sz="2200" b="1" dirty="0"/>
              <a:t>Real-time Graph Neural Networks (GNN)</a:t>
            </a:r>
            <a:r>
              <a:rPr lang="en-IN" sz="2200" dirty="0"/>
              <a:t>: Combining VQC with GNNs to map fraud loops across millions of bank accounts.</a:t>
            </a:r>
          </a:p>
          <a:p>
            <a:r>
              <a:rPr lang="en-IN" sz="2200" b="1" dirty="0"/>
              <a:t>Open-Source Integration</a:t>
            </a:r>
            <a:r>
              <a:rPr lang="en-IN" sz="2200" dirty="0"/>
              <a:t>: Standardizing Q-Guard APIs to plug directly into classical core banking software.</a:t>
            </a:r>
          </a:p>
          <a:p>
            <a:r>
              <a:rPr lang="en-IN" sz="2200" b="1" dirty="0"/>
              <a:t>Schrödinger's Coders Vision</a:t>
            </a:r>
            <a:r>
              <a:rPr lang="en-IN" sz="2200" dirty="0"/>
              <a:t>: Reimagining digital transaction security through the lens of quantum physics.</a:t>
            </a:r>
          </a:p>
          <a:p>
            <a:pPr marL="0" indent="0">
              <a:buNone/>
            </a:pPr>
            <a:br>
              <a:rPr lang="en-IN" sz="2200" dirty="0"/>
            </a:b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157566590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7B93C8-F277-C1D5-9097-F9CB8533CBC2}"/>
              </a:ext>
            </a:extLst>
          </p:cNvPr>
          <p:cNvSpPr txBox="1"/>
          <p:nvPr/>
        </p:nvSpPr>
        <p:spPr>
          <a:xfrm>
            <a:off x="1732248" y="2921168"/>
            <a:ext cx="567950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/>
            <a:r>
              <a:rPr lang="en-IN" sz="6000" b="1" i="0" dirty="0">
                <a:effectLst/>
                <a:latin typeface="ui-sans-serif"/>
              </a:rPr>
              <a:t>THANK YOU!</a:t>
            </a:r>
            <a:endParaRPr lang="en-IN" sz="6000" dirty="0"/>
          </a:p>
        </p:txBody>
      </p:sp>
    </p:spTree>
    <p:extLst>
      <p:ext uri="{BB962C8B-B14F-4D97-AF65-F5344CB8AC3E}">
        <p14:creationId xmlns:p14="http://schemas.microsoft.com/office/powerpoint/2010/main" val="166655773"/>
      </p:ext>
    </p:extLst>
  </p:cSld>
  <p:clrMapOvr>
    <a:masterClrMapping/>
  </p:clrMapOvr>
  <p:transition>
    <p:fade/>
  </p:transition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Civic">
  <a:themeElements>
    <a:clrScheme name="Opulent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Civic">
      <a:majorFont>
        <a:latin typeface="Georgia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Georgia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Civic">
      <a:fillStyleLst>
        <a:solidFill>
          <a:schemeClr val="phClr"/>
        </a:solidFill>
        <a:solidFill>
          <a:schemeClr val="phClr">
            <a:tint val="45000"/>
          </a:schemeClr>
        </a:solidFill>
        <a:solidFill>
          <a:schemeClr val="phClr">
            <a:tint val="95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1429" cap="flat" cmpd="sng" algn="ctr">
          <a:solidFill>
            <a:schemeClr val="phClr"/>
          </a:solidFill>
          <a:prstDash val="sysDash"/>
        </a:ln>
        <a:ln w="200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contourW="9525" prstMaterial="matte">
            <a:bevelT w="0" h="0"/>
            <a:contourClr>
              <a:schemeClr val="phClr">
                <a:shade val="70000"/>
                <a:satMod val="105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soft" dir="b">
              <a:rot lat="0" lon="0" rev="0"/>
            </a:lightRig>
          </a:scene3d>
          <a:sp3d prstMaterial="dkEdge">
            <a:bevelT w="63500" h="63500" prst="cross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70000"/>
                <a:satMod val="115000"/>
              </a:schemeClr>
              <a:schemeClr val="phClr">
                <a:tint val="85000"/>
              </a:schemeClr>
            </a:duotone>
          </a:blip>
          <a:tile tx="0" ty="0" sx="85000" sy="85000" flip="none" algn="tl"/>
        </a:blipFill>
        <a:blipFill>
          <a:blip xmlns:r="http://schemas.openxmlformats.org/officeDocument/2006/relationships" r:embed="rId2">
            <a:duotone>
              <a:schemeClr val="phClr">
                <a:shade val="65000"/>
                <a:satMod val="115000"/>
              </a:schemeClr>
              <a:schemeClr val="phClr">
                <a:tint val="85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Civic</Template>
  <TotalTime>91</TotalTime>
  <Words>1085</Words>
  <Application>Microsoft Office PowerPoint</Application>
  <PresentationFormat>On-screen Show (4:3)</PresentationFormat>
  <Paragraphs>80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Calibri</vt:lpstr>
      <vt:lpstr>Cambria Math</vt:lpstr>
      <vt:lpstr>Georgia</vt:lpstr>
      <vt:lpstr>ui-sans-serif</vt:lpstr>
      <vt:lpstr>Wingdings</vt:lpstr>
      <vt:lpstr>Wingdings 2</vt:lpstr>
      <vt:lpstr>Civic</vt:lpstr>
      <vt:lpstr>PowerPoint Presentation</vt:lpstr>
      <vt:lpstr>PowerPoint Presentation</vt:lpstr>
      <vt:lpstr>Coordinated Financial Fraud Challenge</vt:lpstr>
      <vt:lpstr> Why Classical Machine Learning Fails</vt:lpstr>
      <vt:lpstr>The Quantum Advantage (Why QML?)</vt:lpstr>
      <vt:lpstr>Multi-Agent System Architecture</vt:lpstr>
      <vt:lpstr>Bloch Sphere &amp; State Vector Mapping</vt:lpstr>
      <vt:lpstr>Variational Quantum Circuit (VQC) Details </vt:lpstr>
      <vt:lpstr>Dynamic Bloch Vector Weighting </vt:lpstr>
      <vt:lpstr>Adaptive Context Threshold Engine </vt:lpstr>
      <vt:lpstr>Self-Explainable AI (XAI) &amp; Auditing </vt:lpstr>
      <vt:lpstr>Strategic Mitigation Checklists </vt:lpstr>
      <vt:lpstr>System Scalability &amp; Tech Stack </vt:lpstr>
      <vt:lpstr>Future Scope &amp; Conclusion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</dc:creator>
  <cp:lastModifiedBy>Dhanveer M</cp:lastModifiedBy>
  <cp:revision>12</cp:revision>
  <dcterms:created xsi:type="dcterms:W3CDTF">2026-06-25T14:12:27Z</dcterms:created>
  <dcterms:modified xsi:type="dcterms:W3CDTF">2026-07-09T06:34:28Z</dcterms:modified>
</cp:coreProperties>
</file>